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C8AA4-D999-42ED-B92E-FC292329034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378FE-7FD9-4AF2-A274-2054F9066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6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378FE-7FD9-4AF2-A274-2054F90661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1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378FE-7FD9-4AF2-A274-2054F90661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13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04E4-E0F4-2856-F286-8834AFB79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9D149-3B75-4523-96F6-409324978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AB98-5BF6-F228-EDBA-32EB950C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D8BE8-2DFE-9F5E-77D4-35630E1B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F128C-4806-8F41-AE6E-47BA1C41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5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F568-8998-07A7-5438-D9A059F5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1F365-6F4F-27D1-8B41-2AD8C387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7E15F-D210-2FE8-2F0A-2102494E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A24F-7717-8D13-936C-60461DF1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A9E48-83F8-BB8F-E241-51F4E32D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1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BD09-9EF4-39F5-6058-94EC2FE4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16484-3A57-C305-3F73-6B646E5C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25179-5488-D778-4AA2-DA399AF9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F51B-587E-5E36-E4E4-789D5441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64CBB-9930-9033-23CD-AE7180B2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9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E640-3550-B3CE-412E-9618ACBF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8DCB-BF96-51EA-99D3-7DD9A1376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BE439-BAC4-5A5E-4203-2889997EF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8308-B03C-71B7-11EE-C8905509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1774B-3B97-D704-CCA9-D1920D3C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68BBE-DC79-EA51-D137-C2220BB8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6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6B34-083C-C180-2E7E-852B188C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25443-6503-75D4-73D1-9C8AC4D91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1AE0-DF39-2C71-DB2C-C50D214DB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789E9-8988-0499-3ACC-C911BE26C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75904-EE2E-BDB9-A4A9-1AA41B819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53EF2-4737-5090-32A4-52AA2D3F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10211-BA24-F8E1-99FD-B27A3A42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35B38-F3EB-FD8D-DF2F-5FFDA749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1156-D1C6-6211-99BF-820F5A72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77E46-7B27-990E-9C1E-9DC8060E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0ECD2-1DF0-B31C-DCB8-8B3CD793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70B35-ACCF-0D40-3A1F-7568E268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6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B52F8-8A4A-4701-89E8-940091F3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452C6-42BB-034D-A93E-2A355F8B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EBB64-0AA6-0633-911E-5238B9AC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1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D40E-BBFF-039D-A0CC-8EB6EA12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49369-67BF-2152-9E8C-272F5BE67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E6278-B790-DA12-3852-9DDF0CFFC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DD91B-B3B5-EEFA-6754-114E79CE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4ADD9-FA1F-4C87-B774-4A2E0076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6962C-9EEF-4202-B999-E4F594EC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8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B49F-F79F-8F80-32E9-6D944957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12457-B550-57B4-3262-6F10D46D2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06A2F-78C0-97CE-7E2B-137D6AFCF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0517A-D244-5E80-551F-55066A0A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610C8-F549-C7DD-01F3-536F39C4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56626-BEF8-246A-5914-5AFAC9B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6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C2C6-23BD-EACF-717C-5EB81D21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8B374-DD9B-348C-CD85-4252FC6CA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F2B1E-53A3-60A2-34B2-BB3D961C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B13ED-B06E-AB73-CE04-B51E0FD7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06621-515B-2D08-6EB6-216D87A2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0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B17E5-A9C5-AB53-77EB-90A0EAE00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C55F7-208C-AC7A-2FE3-92BA9A438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317D-73E0-670A-524E-FE8631BB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8EBE2-4F65-7C2A-D625-33A5C0AF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D9FAE-104E-1E76-88EA-D50652B8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16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BCF9A-243C-21BC-372B-E3A43A17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FBAE8-9E32-725D-D3B0-5847B8164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D3840-9D73-19AD-5EF0-873CDA890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C2612-5041-4033-A12B-43ADF1F7833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B399A-95AE-BB4E-8A01-6DCB48516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4A39F-60D8-0230-6AFD-644DBDB84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C0E7C-8963-4959-ABF6-B99A1F9BE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2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C3DB4A-5A13-C6EC-DADB-DD5EE6850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BA1652-7557-0304-B481-7B698FB04F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-863599" y="1764748"/>
            <a:ext cx="9042400" cy="2423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SyncBoard</a:t>
            </a:r>
            <a:r>
              <a:rPr lang="en-US" dirty="0"/>
              <a:t> -</a:t>
            </a:r>
            <a:r>
              <a:rPr lang="en-US" sz="5400" dirty="0"/>
              <a:t>Real-Time Collaborative Workspace </a:t>
            </a:r>
            <a:br>
              <a:rPr lang="en-US" sz="5400" dirty="0"/>
            </a:br>
            <a:r>
              <a:rPr lang="en-US" sz="5400" dirty="0"/>
              <a:t>for Teams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F6E4FA-13E8-B1E8-697B-DACC1FC84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27" y="5149783"/>
            <a:ext cx="416984" cy="423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6C777D-AF0A-B03B-8AFD-07AC39919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489" y="1141468"/>
            <a:ext cx="4731824" cy="45750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0EB0E5-5D0C-E638-B577-9ABC5AEE4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684" y="1284915"/>
            <a:ext cx="4433433" cy="428817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272BE29-5EEF-F776-FE37-D2D19A5DC0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 rot="10800000" flipH="1" flipV="1">
            <a:off x="1378409" y="4921592"/>
            <a:ext cx="5022391" cy="1302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Real-Time Collaboration Platform focused on transparency, accountability, and efficient team workflows.</a:t>
            </a:r>
          </a:p>
          <a:p>
            <a:endParaRPr lang="en-US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489F12A-D53F-C874-46A1-04821CB00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B9417D1C-3B78-FC51-3A07-37C43123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22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24A22E-8A45-9043-8D47-3830E80A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2D141A35-D1DA-6129-9DF2-28B482A1A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543" y="7881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5B3E5AA8-0F1A-FB83-19BF-92B3F82C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933" y="14754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B658DA-596F-DFBC-7468-EF2BE5BA6137}"/>
              </a:ext>
            </a:extLst>
          </p:cNvPr>
          <p:cNvSpPr txBox="1"/>
          <p:nvPr/>
        </p:nvSpPr>
        <p:spPr>
          <a:xfrm>
            <a:off x="1041400" y="594774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Team Details 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Team Details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Project Name:</a:t>
            </a:r>
            <a:r>
              <a:rPr lang="en-US" dirty="0"/>
              <a:t> </a:t>
            </a:r>
            <a:r>
              <a:rPr lang="en-US" dirty="0" err="1"/>
              <a:t>SyncBoard</a:t>
            </a:r>
            <a:endParaRPr lang="en-US" dirty="0"/>
          </a:p>
          <a:p>
            <a:pPr>
              <a:buNone/>
            </a:pPr>
            <a:r>
              <a:rPr lang="en-US" b="1" dirty="0"/>
              <a:t>Team Member:</a:t>
            </a:r>
            <a:r>
              <a:rPr lang="en-US" dirty="0"/>
              <a:t> Harshita Bisht</a:t>
            </a:r>
          </a:p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Full Stack Developer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Responsibilities: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 &amp; Authorization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Collaboration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38241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818D-53E8-8F3B-FC23-3DC329AD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93" y="472901"/>
            <a:ext cx="7642440" cy="39721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Statement </a:t>
            </a:r>
            <a:br>
              <a:rPr lang="en-US" b="1" dirty="0"/>
            </a:br>
            <a:r>
              <a:rPr lang="en-US" sz="2700" b="1" dirty="0"/>
              <a:t>Title:</a:t>
            </a:r>
            <a:r>
              <a:rPr lang="en-US" sz="2700" dirty="0"/>
              <a:t> Problem Statement</a:t>
            </a:r>
            <a:br>
              <a:rPr lang="en-US" sz="2700" dirty="0"/>
            </a:br>
            <a:br>
              <a:rPr lang="en-US" dirty="0"/>
            </a:br>
            <a:r>
              <a:rPr lang="en-US" sz="2200" b="1" dirty="0"/>
              <a:t>Content:</a:t>
            </a:r>
            <a:br>
              <a:rPr lang="en-US" dirty="0"/>
            </a:br>
            <a:r>
              <a:rPr lang="en-US" sz="2000" dirty="0"/>
              <a:t>✅ Teams struggle to track tasks across multiple communication channels.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✅ Lack of visibility causes missed deadlines and reduced accountability.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✅ Existing solutions can be complex for small teams and student projects.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✅ Real-time collaboration and transparent activity tracking are often limited. 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687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724EE1-F3D9-3E1D-3265-D585B7CBE9E1}"/>
              </a:ext>
            </a:extLst>
          </p:cNvPr>
          <p:cNvSpPr txBox="1"/>
          <p:nvPr/>
        </p:nvSpPr>
        <p:spPr>
          <a:xfrm>
            <a:off x="862613" y="443883"/>
            <a:ext cx="102537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Project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96AF-CAF6-9E2F-1DAA-8913B7DE78CE}"/>
              </a:ext>
            </a:extLst>
          </p:cNvPr>
          <p:cNvSpPr txBox="1"/>
          <p:nvPr/>
        </p:nvSpPr>
        <p:spPr>
          <a:xfrm>
            <a:off x="495209" y="3429000"/>
            <a:ext cx="255676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Core Concept</a:t>
            </a:r>
          </a:p>
          <a:p>
            <a:endParaRPr lang="en-US" dirty="0">
              <a:latin typeface="+mj-lt"/>
            </a:endParaRPr>
          </a:p>
          <a:p>
            <a:r>
              <a:rPr lang="en-US" sz="1400" dirty="0" err="1"/>
              <a:t>SyncBoard</a:t>
            </a:r>
            <a:r>
              <a:rPr lang="en-US" sz="1400" dirty="0"/>
              <a:t> is a real-time collaboration platform that enables teams to organize work, track progress, and improve accountability through transparent task management.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E8956-6480-675D-E660-716CB3325A98}"/>
              </a:ext>
            </a:extLst>
          </p:cNvPr>
          <p:cNvSpPr txBox="1"/>
          <p:nvPr/>
        </p:nvSpPr>
        <p:spPr>
          <a:xfrm>
            <a:off x="2858212" y="1631555"/>
            <a:ext cx="30487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Key Design Principles</a:t>
            </a:r>
          </a:p>
          <a:p>
            <a:endParaRPr lang="en-US" dirty="0">
              <a:latin typeface="+mj-lt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Simplicity usability and real time collaboration ensure seamless user experience and effective team coordination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9636B-EC18-602E-CDDD-5636C977C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81" y="3718341"/>
            <a:ext cx="1992171" cy="160732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640A6CA-A103-5EC7-7D5E-69E7441EA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190A09-4E29-B312-92CF-EEC0E3AB1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25" y="4604229"/>
            <a:ext cx="1599483" cy="2021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0AB44E-222B-ACD9-718B-F9F0D4D1D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66" y="3727275"/>
            <a:ext cx="1990373" cy="1607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155D9-874F-CFD1-5114-C79385469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689" y="4687225"/>
            <a:ext cx="1541154" cy="194634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4EE1489D-BA8A-AB05-7B18-254ED8DCC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BAD4CD-667B-7F66-558A-8CB407797C16}"/>
              </a:ext>
            </a:extLst>
          </p:cNvPr>
          <p:cNvSpPr txBox="1"/>
          <p:nvPr/>
        </p:nvSpPr>
        <p:spPr>
          <a:xfrm>
            <a:off x="6421676" y="1556979"/>
            <a:ext cx="30487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Target User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Students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Startup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Development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Project Managers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D0FADB-8119-FECE-48E2-6E9D19F9DB63}"/>
              </a:ext>
            </a:extLst>
          </p:cNvPr>
          <p:cNvSpPr txBox="1"/>
          <p:nvPr/>
        </p:nvSpPr>
        <p:spPr>
          <a:xfrm>
            <a:off x="8879843" y="3646225"/>
            <a:ext cx="33121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Value Proposition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Real-time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Transparent workflows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Better task visibility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Improved accountability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89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BDE9E-2000-10C5-C0B2-0573FD91CD2D}"/>
              </a:ext>
            </a:extLst>
          </p:cNvPr>
          <p:cNvSpPr txBox="1"/>
          <p:nvPr/>
        </p:nvSpPr>
        <p:spPr>
          <a:xfrm>
            <a:off x="825624" y="389626"/>
            <a:ext cx="66471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</a:rPr>
              <a:t>Project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6D143-FC50-91C2-226C-A7793E95C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83" y="1447060"/>
            <a:ext cx="1152452" cy="1243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48169-CDED-031E-63BA-7DE1677B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410" y="2824887"/>
            <a:ext cx="2306483" cy="9884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4F09B4-F3FD-515B-BAE7-8E3F22591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024" y="4015886"/>
            <a:ext cx="3356020" cy="988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E3B43-A814-F92C-8328-831EEE815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99" y="5196822"/>
            <a:ext cx="4524515" cy="998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392AF5-DCD0-5187-64A8-49B16B4669C6}"/>
              </a:ext>
            </a:extLst>
          </p:cNvPr>
          <p:cNvSpPr txBox="1"/>
          <p:nvPr/>
        </p:nvSpPr>
        <p:spPr>
          <a:xfrm>
            <a:off x="2867488" y="2032986"/>
            <a:ext cx="48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65250-A120-52D2-7419-4F89FA060B2C}"/>
              </a:ext>
            </a:extLst>
          </p:cNvPr>
          <p:cNvSpPr txBox="1"/>
          <p:nvPr/>
        </p:nvSpPr>
        <p:spPr>
          <a:xfrm>
            <a:off x="2867488" y="313446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14E22-99AA-9FBE-D700-10C7F9858E03}"/>
              </a:ext>
            </a:extLst>
          </p:cNvPr>
          <p:cNvSpPr txBox="1"/>
          <p:nvPr/>
        </p:nvSpPr>
        <p:spPr>
          <a:xfrm>
            <a:off x="2867488" y="541094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B5E3E-48FE-DC0E-E14F-5B6216BDB34C}"/>
              </a:ext>
            </a:extLst>
          </p:cNvPr>
          <p:cNvSpPr txBox="1"/>
          <p:nvPr/>
        </p:nvSpPr>
        <p:spPr>
          <a:xfrm>
            <a:off x="2867488" y="427270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9C2B31-8B6D-6217-7497-B2DF0E1365E7}"/>
              </a:ext>
            </a:extLst>
          </p:cNvPr>
          <p:cNvSpPr/>
          <p:nvPr/>
        </p:nvSpPr>
        <p:spPr>
          <a:xfrm>
            <a:off x="5353969" y="1220919"/>
            <a:ext cx="6373677" cy="105871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9501EE-2F15-7C78-1704-FCAD27E55B42}"/>
              </a:ext>
            </a:extLst>
          </p:cNvPr>
          <p:cNvSpPr/>
          <p:nvPr/>
        </p:nvSpPr>
        <p:spPr>
          <a:xfrm>
            <a:off x="5340728" y="2445081"/>
            <a:ext cx="6373677" cy="105871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032E10-6CDE-1FB0-485F-B0D4B5514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728" y="3668752"/>
            <a:ext cx="6498899" cy="1182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3FD7A2-E7F7-ADB5-4044-F903AC36F9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728" y="4922221"/>
            <a:ext cx="6498899" cy="11827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C35C3E-68B3-2D94-7D6A-4B5F8CC59104}"/>
              </a:ext>
            </a:extLst>
          </p:cNvPr>
          <p:cNvSpPr txBox="1"/>
          <p:nvPr/>
        </p:nvSpPr>
        <p:spPr>
          <a:xfrm>
            <a:off x="5557422" y="1364676"/>
            <a:ext cx="575273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 a Scalable Collaboration Platform</a:t>
            </a:r>
          </a:p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Create robust , scalable task management platform delivering core functionality for enterprise-level performance requirement.  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6A893-B78D-7262-6477-38EF5B910934}"/>
              </a:ext>
            </a:extLst>
          </p:cNvPr>
          <p:cNvSpPr txBox="1"/>
          <p:nvPr/>
        </p:nvSpPr>
        <p:spPr>
          <a:xfrm>
            <a:off x="5557422" y="2601157"/>
            <a:ext cx="59746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 Real Time Collaboration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  simultaneous multi user feature with live update enabling seamless team coordination and enhanced productivity.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72878-1D1B-10D6-F03A-C5D80A1B0E2E}"/>
              </a:ext>
            </a:extLst>
          </p:cNvPr>
          <p:cNvSpPr txBox="1"/>
          <p:nvPr/>
        </p:nvSpPr>
        <p:spPr>
          <a:xfrm>
            <a:off x="5490839" y="3879044"/>
            <a:ext cx="588589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Friendly Interface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Design clean intuitive UI with minimal learning curve ensuring rapid adoption across divers user skill levels.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E2207-F113-61A8-ABA6-0D38B647002B}"/>
              </a:ext>
            </a:extLst>
          </p:cNvPr>
          <p:cNvSpPr txBox="1"/>
          <p:nvPr/>
        </p:nvSpPr>
        <p:spPr>
          <a:xfrm>
            <a:off x="5557422" y="5121345"/>
            <a:ext cx="58768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Secure Data Management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Establish secure authentication mechanisms and comprehensive data protection protocol safeguarding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62350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2E956-048B-3967-9A10-AA22AC85A212}"/>
              </a:ext>
            </a:extLst>
          </p:cNvPr>
          <p:cNvSpPr txBox="1"/>
          <p:nvPr/>
        </p:nvSpPr>
        <p:spPr>
          <a:xfrm>
            <a:off x="585926" y="355107"/>
            <a:ext cx="7119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Key Feature &amp; Capabilities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07571A-0931-1DF0-DD64-5B415B1BC20D}"/>
              </a:ext>
            </a:extLst>
          </p:cNvPr>
          <p:cNvSpPr txBox="1"/>
          <p:nvPr/>
        </p:nvSpPr>
        <p:spPr>
          <a:xfrm>
            <a:off x="593741" y="2008554"/>
            <a:ext cx="103790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Real-Time Collaboration</a:t>
            </a:r>
          </a:p>
          <a:p>
            <a:endParaRPr lang="en-US" dirty="0"/>
          </a:p>
          <a:p>
            <a:r>
              <a:rPr lang="en-US" dirty="0"/>
              <a:t>✅ Activity History Logs</a:t>
            </a:r>
          </a:p>
          <a:p>
            <a:endParaRPr lang="en-US" dirty="0"/>
          </a:p>
          <a:p>
            <a:r>
              <a:rPr lang="en-US" dirty="0"/>
              <a:t>✅ Role-Based Access Control</a:t>
            </a:r>
          </a:p>
          <a:p>
            <a:endParaRPr lang="en-US" dirty="0"/>
          </a:p>
          <a:p>
            <a:r>
              <a:rPr lang="en-US" dirty="0"/>
              <a:t>✅ Team Member Invitations</a:t>
            </a:r>
          </a:p>
        </p:txBody>
      </p:sp>
    </p:spTree>
    <p:extLst>
      <p:ext uri="{BB962C8B-B14F-4D97-AF65-F5344CB8AC3E}">
        <p14:creationId xmlns:p14="http://schemas.microsoft.com/office/powerpoint/2010/main" val="2522589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BC5C69-C031-4609-862D-95A8DF78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6426D-EA54-55F9-E128-2D0325B97A6A}"/>
              </a:ext>
            </a:extLst>
          </p:cNvPr>
          <p:cNvSpPr txBox="1"/>
          <p:nvPr/>
        </p:nvSpPr>
        <p:spPr>
          <a:xfrm>
            <a:off x="1313895" y="1420427"/>
            <a:ext cx="78633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02 </a:t>
            </a:r>
            <a:br>
              <a:rPr lang="en-US" sz="5400" b="1" dirty="0">
                <a:solidFill>
                  <a:schemeClr val="bg1"/>
                </a:solidFill>
                <a:latin typeface="+mj-lt"/>
              </a:rPr>
            </a:br>
            <a:r>
              <a:rPr lang="en-US" sz="5400" b="1" dirty="0">
                <a:solidFill>
                  <a:schemeClr val="bg1"/>
                </a:solidFill>
                <a:latin typeface="+mj-lt"/>
              </a:rPr>
              <a:t>Technical  Architecture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&amp; Design</a:t>
            </a:r>
          </a:p>
        </p:txBody>
      </p:sp>
    </p:spTree>
    <p:extLst>
      <p:ext uri="{BB962C8B-B14F-4D97-AF65-F5344CB8AC3E}">
        <p14:creationId xmlns:p14="http://schemas.microsoft.com/office/powerpoint/2010/main" val="643125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433B8-4A19-9C0F-B3DC-F0A6944A9576}"/>
              </a:ext>
            </a:extLst>
          </p:cNvPr>
          <p:cNvSpPr txBox="1"/>
          <p:nvPr/>
        </p:nvSpPr>
        <p:spPr>
          <a:xfrm>
            <a:off x="550415" y="372861"/>
            <a:ext cx="71110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Technology Stack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249298-CF5B-82F5-5B8D-1F4E45842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26" y="1844635"/>
            <a:ext cx="419100" cy="41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605F14-A403-06F3-792C-CD80B0A5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71" y="1915929"/>
            <a:ext cx="409575" cy="409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28E08B-ED93-56DC-BC74-C6936AC69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286" y="1915929"/>
            <a:ext cx="409575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77A62-FCA3-455C-31CB-C73E3F2CF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851" y="4074110"/>
            <a:ext cx="409575" cy="409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7272A3-7114-ABC4-D13A-BFA3E6642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511" y="4064585"/>
            <a:ext cx="419100" cy="41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E63AC9-89DC-16EB-4E41-E0645D1E078A}"/>
              </a:ext>
            </a:extLst>
          </p:cNvPr>
          <p:cNvSpPr txBox="1"/>
          <p:nvPr/>
        </p:nvSpPr>
        <p:spPr>
          <a:xfrm>
            <a:off x="811427" y="2350515"/>
            <a:ext cx="2375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Frontend Framework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React.js enables dynamic responsive user interface with excellent component reusability.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9B488-9440-C1EA-1D62-403B71671FB4}"/>
              </a:ext>
            </a:extLst>
          </p:cNvPr>
          <p:cNvSpPr txBox="1"/>
          <p:nvPr/>
        </p:nvSpPr>
        <p:spPr>
          <a:xfrm>
            <a:off x="4878511" y="2350515"/>
            <a:ext cx="278291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Backend Framework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Node.js with express.js provide light weight scalable API development with non blocking architecture 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1CED3-E79F-A799-A71B-F44AC735D084}"/>
              </a:ext>
            </a:extLst>
          </p:cNvPr>
          <p:cNvSpPr txBox="1"/>
          <p:nvPr/>
        </p:nvSpPr>
        <p:spPr>
          <a:xfrm>
            <a:off x="8353286" y="2350515"/>
            <a:ext cx="288524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 System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MongoDB offers flexible  document- based data storage with horizontal scalability and schema less design.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1D10A-F146-353D-0955-8D4E9AD4D932}"/>
              </a:ext>
            </a:extLst>
          </p:cNvPr>
          <p:cNvSpPr txBox="1"/>
          <p:nvPr/>
        </p:nvSpPr>
        <p:spPr>
          <a:xfrm>
            <a:off x="811427" y="4635321"/>
            <a:ext cx="268993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Authentication Protocol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JWT implement stateless , secure user authentication without server-side storage requirement.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7F2DC-4BBD-0B0F-88C2-91A5508CD276}"/>
              </a:ext>
            </a:extLst>
          </p:cNvPr>
          <p:cNvSpPr txBox="1"/>
          <p:nvPr/>
        </p:nvSpPr>
        <p:spPr>
          <a:xfrm>
            <a:off x="4878511" y="4635321"/>
            <a:ext cx="314690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Development Tool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Postman facilitates API testing while GitHub enables version control and seamless team collaboration throughout lifecycle.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6D96B4-EB9E-356C-9BE3-17B30043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86" y="4074110"/>
            <a:ext cx="4095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E875249-EDF9-8734-D863-1BF84B5FAFE1}"/>
              </a:ext>
            </a:extLst>
          </p:cNvPr>
          <p:cNvSpPr txBox="1"/>
          <p:nvPr/>
        </p:nvSpPr>
        <p:spPr>
          <a:xfrm>
            <a:off x="8353285" y="4635321"/>
            <a:ext cx="26116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Socket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Used socket.io for the real time collaboration to increase the efficiency of the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00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2F792-F5D9-DE14-4D10-5DB3164C361F}"/>
              </a:ext>
            </a:extLst>
          </p:cNvPr>
          <p:cNvSpPr txBox="1"/>
          <p:nvPr/>
        </p:nvSpPr>
        <p:spPr>
          <a:xfrm>
            <a:off x="506028" y="568171"/>
            <a:ext cx="8362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System &amp;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95F22F-CF69-2F96-2A20-76195671023E}"/>
              </a:ext>
            </a:extLst>
          </p:cNvPr>
          <p:cNvSpPr/>
          <p:nvPr/>
        </p:nvSpPr>
        <p:spPr>
          <a:xfrm>
            <a:off x="461085" y="1819920"/>
            <a:ext cx="1953087" cy="43323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7EB10A-DCF5-ACDD-2B66-60AAEEF8CEDB}"/>
              </a:ext>
            </a:extLst>
          </p:cNvPr>
          <p:cNvSpPr/>
          <p:nvPr/>
        </p:nvSpPr>
        <p:spPr>
          <a:xfrm>
            <a:off x="5151082" y="1819920"/>
            <a:ext cx="1953087" cy="43323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492D9E-43DA-C6E5-158C-D31284A4B9A5}"/>
              </a:ext>
            </a:extLst>
          </p:cNvPr>
          <p:cNvSpPr/>
          <p:nvPr/>
        </p:nvSpPr>
        <p:spPr>
          <a:xfrm>
            <a:off x="2813112" y="1819920"/>
            <a:ext cx="1953087" cy="43323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F6468A-683E-998B-7B82-6F3A03D8136A}"/>
              </a:ext>
            </a:extLst>
          </p:cNvPr>
          <p:cNvSpPr/>
          <p:nvPr/>
        </p:nvSpPr>
        <p:spPr>
          <a:xfrm>
            <a:off x="7503109" y="1819920"/>
            <a:ext cx="1953087" cy="43323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423007-E323-A805-64F8-CA05F6B19C5A}"/>
              </a:ext>
            </a:extLst>
          </p:cNvPr>
          <p:cNvSpPr/>
          <p:nvPr/>
        </p:nvSpPr>
        <p:spPr>
          <a:xfrm>
            <a:off x="556335" y="1636406"/>
            <a:ext cx="1775534" cy="5948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3D0128-1106-C1FB-651F-345B5C5EE42C}"/>
              </a:ext>
            </a:extLst>
          </p:cNvPr>
          <p:cNvSpPr/>
          <p:nvPr/>
        </p:nvSpPr>
        <p:spPr>
          <a:xfrm>
            <a:off x="5246887" y="1650872"/>
            <a:ext cx="1775534" cy="5948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9CB4C8-9B70-FAA5-ECDB-887B3846F839}"/>
              </a:ext>
            </a:extLst>
          </p:cNvPr>
          <p:cNvSpPr/>
          <p:nvPr/>
        </p:nvSpPr>
        <p:spPr>
          <a:xfrm>
            <a:off x="2894860" y="1650872"/>
            <a:ext cx="1775534" cy="5948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E75938-86FD-0AC6-A082-558BA31D5C47}"/>
              </a:ext>
            </a:extLst>
          </p:cNvPr>
          <p:cNvSpPr/>
          <p:nvPr/>
        </p:nvSpPr>
        <p:spPr>
          <a:xfrm>
            <a:off x="7584857" y="1749142"/>
            <a:ext cx="1775534" cy="5948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F7295-7C23-2A6F-C8C3-B37BA77C528D}"/>
              </a:ext>
            </a:extLst>
          </p:cNvPr>
          <p:cNvSpPr txBox="1"/>
          <p:nvPr/>
        </p:nvSpPr>
        <p:spPr>
          <a:xfrm>
            <a:off x="607655" y="1749142"/>
            <a:ext cx="192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Frontend Layer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86C2BD-21DC-C23F-D5F8-C33F917217AE}"/>
              </a:ext>
            </a:extLst>
          </p:cNvPr>
          <p:cNvSpPr/>
          <p:nvPr/>
        </p:nvSpPr>
        <p:spPr>
          <a:xfrm>
            <a:off x="9793458" y="1835550"/>
            <a:ext cx="1953087" cy="43323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FA6034-5384-35A8-749F-E0C62DC1E3CA}"/>
              </a:ext>
            </a:extLst>
          </p:cNvPr>
          <p:cNvSpPr/>
          <p:nvPr/>
        </p:nvSpPr>
        <p:spPr>
          <a:xfrm>
            <a:off x="9866604" y="1749142"/>
            <a:ext cx="1775534" cy="5948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8C6C6-9267-0F0D-60C3-F881EF32C68C}"/>
              </a:ext>
            </a:extLst>
          </p:cNvPr>
          <p:cNvSpPr txBox="1"/>
          <p:nvPr/>
        </p:nvSpPr>
        <p:spPr>
          <a:xfrm>
            <a:off x="2838082" y="1636406"/>
            <a:ext cx="220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API Communication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AE349-608A-EDDB-4112-755CAC8BF09B}"/>
              </a:ext>
            </a:extLst>
          </p:cNvPr>
          <p:cNvSpPr txBox="1"/>
          <p:nvPr/>
        </p:nvSpPr>
        <p:spPr>
          <a:xfrm>
            <a:off x="5259553" y="1763608"/>
            <a:ext cx="192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Backend Layer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FB93BA-F354-02CB-D977-EA3E066D38F9}"/>
              </a:ext>
            </a:extLst>
          </p:cNvPr>
          <p:cNvSpPr txBox="1"/>
          <p:nvPr/>
        </p:nvSpPr>
        <p:spPr>
          <a:xfrm>
            <a:off x="7576901" y="1837673"/>
            <a:ext cx="192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Database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5658D-A621-3410-C815-EC7D12A4781F}"/>
              </a:ext>
            </a:extLst>
          </p:cNvPr>
          <p:cNvSpPr txBox="1"/>
          <p:nvPr/>
        </p:nvSpPr>
        <p:spPr>
          <a:xfrm>
            <a:off x="9962409" y="1699173"/>
            <a:ext cx="192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Optional Enhancement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670D3-712C-B7C6-8210-083B54C3D255}"/>
              </a:ext>
            </a:extLst>
          </p:cNvPr>
          <p:cNvSpPr txBox="1"/>
          <p:nvPr/>
        </p:nvSpPr>
        <p:spPr>
          <a:xfrm>
            <a:off x="556335" y="2530004"/>
            <a:ext cx="19530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React.js enables dynamic responsive user interface with excellent component reusability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88E6F-7570-BA4D-24CD-D4582DCFFB40}"/>
              </a:ext>
            </a:extLst>
          </p:cNvPr>
          <p:cNvSpPr txBox="1"/>
          <p:nvPr/>
        </p:nvSpPr>
        <p:spPr>
          <a:xfrm>
            <a:off x="2900226" y="2530004"/>
            <a:ext cx="1851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RESTFUL API enables seamless data exchange facilitating smooth interaction between backend and frontend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42A5C-DB74-B791-0133-A68CAEE34942}"/>
              </a:ext>
            </a:extLst>
          </p:cNvPr>
          <p:cNvSpPr txBox="1"/>
          <p:nvPr/>
        </p:nvSpPr>
        <p:spPr>
          <a:xfrm>
            <a:off x="5190616" y="2343946"/>
            <a:ext cx="1953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Node.js with express.js provide light weight scalable API development with non blocking architecture 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627C8F-7E04-413C-AC1F-CDACE33C547C}"/>
              </a:ext>
            </a:extLst>
          </p:cNvPr>
          <p:cNvSpPr txBox="1"/>
          <p:nvPr/>
        </p:nvSpPr>
        <p:spPr>
          <a:xfrm>
            <a:off x="7542643" y="2637725"/>
            <a:ext cx="1997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MongoDB stores user data ,boards , list , card with proper indexing for optional performance.   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BBED8A-22A1-D9D8-B396-D3D77788C307}"/>
              </a:ext>
            </a:extLst>
          </p:cNvPr>
          <p:cNvSpPr txBox="1"/>
          <p:nvPr/>
        </p:nvSpPr>
        <p:spPr>
          <a:xfrm>
            <a:off x="9792529" y="2637725"/>
            <a:ext cx="2008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WebSockets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provide instant synchronization between connected users</a:t>
            </a:r>
          </a:p>
        </p:txBody>
      </p:sp>
    </p:spTree>
    <p:extLst>
      <p:ext uri="{BB962C8B-B14F-4D97-AF65-F5344CB8AC3E}">
        <p14:creationId xmlns:p14="http://schemas.microsoft.com/office/powerpoint/2010/main" val="95778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293C6F-C0A6-369E-F45E-91147B50F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515660"/>
              </p:ext>
            </p:extLst>
          </p:nvPr>
        </p:nvGraphicFramePr>
        <p:xfrm>
          <a:off x="603682" y="1553839"/>
          <a:ext cx="10875144" cy="460919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25048">
                  <a:extLst>
                    <a:ext uri="{9D8B030D-6E8A-4147-A177-3AD203B41FA5}">
                      <a16:colId xmlns:a16="http://schemas.microsoft.com/office/drawing/2014/main" val="455647017"/>
                    </a:ext>
                  </a:extLst>
                </a:gridCol>
                <a:gridCol w="3625048">
                  <a:extLst>
                    <a:ext uri="{9D8B030D-6E8A-4147-A177-3AD203B41FA5}">
                      <a16:colId xmlns:a16="http://schemas.microsoft.com/office/drawing/2014/main" val="833536478"/>
                    </a:ext>
                  </a:extLst>
                </a:gridCol>
                <a:gridCol w="3625048">
                  <a:extLst>
                    <a:ext uri="{9D8B030D-6E8A-4147-A177-3AD203B41FA5}">
                      <a16:colId xmlns:a16="http://schemas.microsoft.com/office/drawing/2014/main" val="3290935052"/>
                    </a:ext>
                  </a:extLst>
                </a:gridCol>
              </a:tblGrid>
              <a:tr h="7188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Key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388164"/>
                  </a:ext>
                </a:extLst>
              </a:tr>
              <a:tr h="7188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5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boarsId</a:t>
                      </a:r>
                      <a:r>
                        <a:rPr lang="en-US" sz="15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sz="15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userId</a:t>
                      </a:r>
                      <a:r>
                        <a:rPr lang="en-US" sz="15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sz="15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entityType</a:t>
                      </a:r>
                      <a:r>
                        <a:rPr lang="en-US" sz="15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sz="15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entityId</a:t>
                      </a:r>
                      <a:r>
                        <a:rPr lang="en-US" sz="15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Tracks user actions and activity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596302"/>
                  </a:ext>
                </a:extLst>
              </a:tr>
              <a:tr h="7188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name , email , password ,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Authentication and user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829333"/>
                  </a:ext>
                </a:extLst>
              </a:tr>
              <a:tr h="7188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Title , owner , member , created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Workspace organization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84585"/>
                  </a:ext>
                </a:extLst>
              </a:tr>
              <a:tr h="71884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Title , board Id ,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Task categorization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268336"/>
                  </a:ext>
                </a:extLst>
              </a:tr>
              <a:tr h="78952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Title , description , list Id , assignment , due-date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Task details and tracking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sz="16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295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01656F-434C-569C-F047-0A35055CE7C3}"/>
              </a:ext>
            </a:extLst>
          </p:cNvPr>
          <p:cNvSpPr txBox="1"/>
          <p:nvPr/>
        </p:nvSpPr>
        <p:spPr>
          <a:xfrm>
            <a:off x="603682" y="337351"/>
            <a:ext cx="6667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Database Schema Design</a:t>
            </a:r>
          </a:p>
        </p:txBody>
      </p:sp>
    </p:spTree>
    <p:extLst>
      <p:ext uri="{BB962C8B-B14F-4D97-AF65-F5344CB8AC3E}">
        <p14:creationId xmlns:p14="http://schemas.microsoft.com/office/powerpoint/2010/main" val="4068884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B8F879-E256-DECC-4B66-1C9350250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E4FA0-273B-42A9-2EEA-E7E6AB8E0B77}"/>
              </a:ext>
            </a:extLst>
          </p:cNvPr>
          <p:cNvSpPr txBox="1"/>
          <p:nvPr/>
        </p:nvSpPr>
        <p:spPr>
          <a:xfrm>
            <a:off x="863354" y="1154071"/>
            <a:ext cx="61655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03 </a:t>
            </a:r>
            <a:br>
              <a:rPr lang="en-US" sz="5400" b="1" dirty="0">
                <a:solidFill>
                  <a:schemeClr val="bg1"/>
                </a:solidFill>
                <a:latin typeface="+mj-lt"/>
              </a:rPr>
            </a:br>
            <a:r>
              <a:rPr lang="en-US" sz="5400" b="1" dirty="0">
                <a:solidFill>
                  <a:schemeClr val="bg1"/>
                </a:solidFill>
                <a:latin typeface="+mj-lt"/>
              </a:rPr>
              <a:t>Workflow</a:t>
            </a:r>
          </a:p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0527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A9AE1A-8CA1-0BDF-AD3D-C1D7258ACB21}"/>
              </a:ext>
            </a:extLst>
          </p:cNvPr>
          <p:cNvSpPr txBox="1"/>
          <p:nvPr/>
        </p:nvSpPr>
        <p:spPr>
          <a:xfrm>
            <a:off x="435006" y="426128"/>
            <a:ext cx="5965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User Journey &amp; Workflow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4044A-D149-0924-3CA4-0457CF92DF25}"/>
              </a:ext>
            </a:extLst>
          </p:cNvPr>
          <p:cNvSpPr txBox="1"/>
          <p:nvPr/>
        </p:nvSpPr>
        <p:spPr>
          <a:xfrm>
            <a:off x="533399" y="1449906"/>
            <a:ext cx="101684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Authentication</a:t>
            </a:r>
          </a:p>
          <a:p>
            <a:endParaRPr lang="en-US" dirty="0"/>
          </a:p>
          <a:p>
            <a:r>
              <a:rPr lang="en-US" dirty="0"/>
              <a:t>✅ Board Creation</a:t>
            </a:r>
          </a:p>
          <a:p>
            <a:endParaRPr lang="en-US" dirty="0"/>
          </a:p>
          <a:p>
            <a:r>
              <a:rPr lang="en-US" dirty="0"/>
              <a:t>✅ List Creation </a:t>
            </a:r>
          </a:p>
          <a:p>
            <a:endParaRPr lang="en-US" dirty="0"/>
          </a:p>
          <a:p>
            <a:r>
              <a:rPr lang="en-US" dirty="0"/>
              <a:t>✅ Task Creation</a:t>
            </a:r>
          </a:p>
          <a:p>
            <a:endParaRPr lang="en-US" dirty="0"/>
          </a:p>
          <a:p>
            <a:r>
              <a:rPr lang="en-US" dirty="0"/>
              <a:t>✅ Task Updates</a:t>
            </a:r>
          </a:p>
          <a:p>
            <a:endParaRPr lang="en-US" dirty="0"/>
          </a:p>
          <a:p>
            <a:r>
              <a:rPr lang="en-US" dirty="0"/>
              <a:t>✅ Task Completion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05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A17B-AED8-4458-C9C5-E5701776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C4DC3-6766-5E03-6AD2-8FC1BE6C6CCD}"/>
              </a:ext>
            </a:extLst>
          </p:cNvPr>
          <p:cNvSpPr txBox="1"/>
          <p:nvPr/>
        </p:nvSpPr>
        <p:spPr>
          <a:xfrm>
            <a:off x="550415" y="372861"/>
            <a:ext cx="71110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Implement Challenges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00A3B-7604-55B1-024D-1CCE9B0EA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26" y="1844635"/>
            <a:ext cx="419100" cy="41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2B4965-3C90-FD74-AB4F-F5230182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71" y="1915929"/>
            <a:ext cx="409575" cy="409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0F7ACE-BF5C-1592-0B2C-A97FDF166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286" y="1915929"/>
            <a:ext cx="409575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FA9566-7FF7-2234-0BE5-7C78D05D8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851" y="4074110"/>
            <a:ext cx="409575" cy="409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37722E-083B-5618-4871-B179141C0C65}"/>
              </a:ext>
            </a:extLst>
          </p:cNvPr>
          <p:cNvSpPr txBox="1"/>
          <p:nvPr/>
        </p:nvSpPr>
        <p:spPr>
          <a:xfrm>
            <a:off x="811427" y="2350515"/>
            <a:ext cx="2375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Drag-drop Complexity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Implementing smooth responsive drag-drop with state synchronization across component seamlessly.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E32B6-87FD-3663-2C11-669C1FB4D10D}"/>
              </a:ext>
            </a:extLst>
          </p:cNvPr>
          <p:cNvSpPr txBox="1"/>
          <p:nvPr/>
        </p:nvSpPr>
        <p:spPr>
          <a:xfrm>
            <a:off x="4878511" y="2350515"/>
            <a:ext cx="27829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 Relationship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Managing complex object relationship and maintaining data consistency during all operation.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27A23-39C5-40B7-949B-A584DB5AB0A2}"/>
              </a:ext>
            </a:extLst>
          </p:cNvPr>
          <p:cNvSpPr txBox="1"/>
          <p:nvPr/>
        </p:nvSpPr>
        <p:spPr>
          <a:xfrm>
            <a:off x="8353286" y="2350515"/>
            <a:ext cx="28852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Secure Authentication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Implementing robust JWT token  management , refresh token logic and password hashing protocol 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EE145-9619-ACA2-E4C5-1990BCF61A3A}"/>
              </a:ext>
            </a:extLst>
          </p:cNvPr>
          <p:cNvSpPr txBox="1"/>
          <p:nvPr/>
        </p:nvSpPr>
        <p:spPr>
          <a:xfrm>
            <a:off x="811427" y="4635321"/>
            <a:ext cx="268993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Scalable  API Design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Designing efficient backend API handling concurrent user while maintaining performance at scale 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35CAE2-3B07-5FBB-410A-67C326D65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511" y="4074110"/>
            <a:ext cx="409575" cy="409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94AB43-EF4E-0A14-68BD-95F23D157431}"/>
              </a:ext>
            </a:extLst>
          </p:cNvPr>
          <p:cNvSpPr txBox="1"/>
          <p:nvPr/>
        </p:nvSpPr>
        <p:spPr>
          <a:xfrm>
            <a:off x="4715933" y="4699000"/>
            <a:ext cx="27829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Synchronization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Managing multiple users editing the same board simultaneously.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7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FBE0E33-43C5-96DC-57C6-AF61ECA074F4}"/>
              </a:ext>
            </a:extLst>
          </p:cNvPr>
          <p:cNvSpPr txBox="1"/>
          <p:nvPr/>
        </p:nvSpPr>
        <p:spPr>
          <a:xfrm>
            <a:off x="685800" y="49592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Key Feature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6BB57-30AB-5FD3-B9DD-96F748B94066}"/>
              </a:ext>
            </a:extLst>
          </p:cNvPr>
          <p:cNvSpPr txBox="1"/>
          <p:nvPr/>
        </p:nvSpPr>
        <p:spPr>
          <a:xfrm>
            <a:off x="787400" y="1515533"/>
            <a:ext cx="91270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Real-Time Collaboration</a:t>
            </a:r>
          </a:p>
          <a:p>
            <a:r>
              <a:rPr lang="en-US" dirty="0"/>
              <a:t>        Instant updates using </a:t>
            </a:r>
            <a:r>
              <a:rPr lang="en-US" dirty="0" err="1"/>
              <a:t>WebSockets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Activity History Logs</a:t>
            </a:r>
          </a:p>
          <a:p>
            <a:r>
              <a:rPr lang="en-US" dirty="0"/>
              <a:t>       Track every important action.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Role-Based Permissions</a:t>
            </a:r>
          </a:p>
          <a:p>
            <a:r>
              <a:rPr lang="en-US" dirty="0"/>
              <a:t>        Controlled access for teams.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Team Transparency</a:t>
            </a:r>
          </a:p>
          <a:p>
            <a:r>
              <a:rPr lang="en-US" dirty="0"/>
              <a:t>        Everyone sees project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70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F7B6E3-BCD0-B61A-EAED-2A6534B2C499}"/>
              </a:ext>
            </a:extLst>
          </p:cNvPr>
          <p:cNvSpPr txBox="1"/>
          <p:nvPr/>
        </p:nvSpPr>
        <p:spPr>
          <a:xfrm>
            <a:off x="846667" y="804334"/>
            <a:ext cx="7975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Current Development Progress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b="1" dirty="0"/>
              <a:t>Completed</a:t>
            </a:r>
          </a:p>
          <a:p>
            <a:pPr>
              <a:buNone/>
            </a:pPr>
            <a:r>
              <a:rPr lang="en-US" dirty="0"/>
              <a:t>✅ Authentication</a:t>
            </a:r>
          </a:p>
          <a:p>
            <a:pPr>
              <a:buNone/>
            </a:pPr>
            <a:r>
              <a:rPr lang="en-US" dirty="0"/>
              <a:t>✅ Boards</a:t>
            </a:r>
          </a:p>
          <a:p>
            <a:pPr>
              <a:buNone/>
            </a:pPr>
            <a:r>
              <a:rPr lang="en-US" dirty="0"/>
              <a:t>✅ Lists</a:t>
            </a:r>
          </a:p>
          <a:p>
            <a:pPr>
              <a:buNone/>
            </a:pPr>
            <a:r>
              <a:rPr lang="en-US" dirty="0"/>
              <a:t>✅ Tasks</a:t>
            </a:r>
          </a:p>
          <a:p>
            <a:pPr>
              <a:buNone/>
            </a:pPr>
            <a:r>
              <a:rPr lang="en-US" dirty="0"/>
              <a:t>✅ Drag &amp; Drop</a:t>
            </a:r>
          </a:p>
          <a:p>
            <a:pPr>
              <a:buNone/>
            </a:pPr>
            <a:r>
              <a:rPr lang="en-US" dirty="0"/>
              <a:t>✅ Permissions</a:t>
            </a:r>
          </a:p>
          <a:p>
            <a:pPr>
              <a:buNone/>
            </a:pPr>
            <a:r>
              <a:rPr lang="en-US" dirty="0"/>
              <a:t>✅ Real-Time Updates</a:t>
            </a:r>
          </a:p>
          <a:p>
            <a:pPr>
              <a:buNone/>
            </a:pPr>
            <a:r>
              <a:rPr lang="en-US" dirty="0"/>
              <a:t>✅ Activity Logs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 Progress</a:t>
            </a:r>
          </a:p>
          <a:p>
            <a:pPr>
              <a:buNone/>
            </a:pPr>
            <a:r>
              <a:rPr lang="en-US" dirty="0"/>
              <a:t>🔄 Email Invitations</a:t>
            </a:r>
          </a:p>
          <a:p>
            <a:pPr>
              <a:buNone/>
            </a:pPr>
            <a:r>
              <a:rPr lang="en-US" dirty="0"/>
              <a:t>🔄 Deployment</a:t>
            </a:r>
          </a:p>
        </p:txBody>
      </p:sp>
    </p:spTree>
    <p:extLst>
      <p:ext uri="{BB962C8B-B14F-4D97-AF65-F5344CB8AC3E}">
        <p14:creationId xmlns:p14="http://schemas.microsoft.com/office/powerpoint/2010/main" val="368474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41111-02DC-0D12-44FD-058B9C0CB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25" y="1451125"/>
            <a:ext cx="6091708" cy="3641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891F0-5091-B190-7A43-D9EA688C8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r="14812"/>
          <a:stretch>
            <a:fillRect/>
          </a:stretch>
        </p:blipFill>
        <p:spPr>
          <a:xfrm>
            <a:off x="6586990" y="1451125"/>
            <a:ext cx="5164743" cy="3621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3629D8-BB66-335B-66CA-1F23C4E1C993}"/>
              </a:ext>
            </a:extLst>
          </p:cNvPr>
          <p:cNvSpPr txBox="1"/>
          <p:nvPr/>
        </p:nvSpPr>
        <p:spPr>
          <a:xfrm>
            <a:off x="1109133" y="736600"/>
            <a:ext cx="384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7664B4-B41D-58DD-DE95-CE2A9E3D6E25}"/>
              </a:ext>
            </a:extLst>
          </p:cNvPr>
          <p:cNvSpPr txBox="1"/>
          <p:nvPr/>
        </p:nvSpPr>
        <p:spPr>
          <a:xfrm>
            <a:off x="8055994" y="838200"/>
            <a:ext cx="222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100183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0A2C1-7E83-3AAD-4162-52642B074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419" y="1380067"/>
            <a:ext cx="7952848" cy="4927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E5F8CC-2F65-A40F-883E-D65F0A8446E7}"/>
              </a:ext>
            </a:extLst>
          </p:cNvPr>
          <p:cNvSpPr txBox="1"/>
          <p:nvPr/>
        </p:nvSpPr>
        <p:spPr>
          <a:xfrm>
            <a:off x="4494476" y="702736"/>
            <a:ext cx="298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09701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EB49C-8EB8-45B7-A7A3-8034BEF45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1524000"/>
            <a:ext cx="9067402" cy="4322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4E3208-6005-A715-8810-D2968C8D46DD}"/>
              </a:ext>
            </a:extLst>
          </p:cNvPr>
          <p:cNvSpPr txBox="1"/>
          <p:nvPr/>
        </p:nvSpPr>
        <p:spPr>
          <a:xfrm>
            <a:off x="4207933" y="728134"/>
            <a:ext cx="343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Board View</a:t>
            </a:r>
          </a:p>
        </p:txBody>
      </p:sp>
    </p:spTree>
    <p:extLst>
      <p:ext uri="{BB962C8B-B14F-4D97-AF65-F5344CB8AC3E}">
        <p14:creationId xmlns:p14="http://schemas.microsoft.com/office/powerpoint/2010/main" val="1756835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89D3B-3C4F-9019-647C-C4CC251B0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34" y="1270000"/>
            <a:ext cx="10007600" cy="54228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B82867-CB4C-EDAB-E143-ADC13B1E4597}"/>
              </a:ext>
            </a:extLst>
          </p:cNvPr>
          <p:cNvSpPr txBox="1"/>
          <p:nvPr/>
        </p:nvSpPr>
        <p:spPr>
          <a:xfrm>
            <a:off x="3945467" y="584200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Activity Log</a:t>
            </a:r>
          </a:p>
        </p:txBody>
      </p:sp>
    </p:spTree>
    <p:extLst>
      <p:ext uri="{BB962C8B-B14F-4D97-AF65-F5344CB8AC3E}">
        <p14:creationId xmlns:p14="http://schemas.microsoft.com/office/powerpoint/2010/main" val="3499251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C4ADA5-1FB9-A701-D1F8-687D9E7B2025}"/>
              </a:ext>
            </a:extLst>
          </p:cNvPr>
          <p:cNvSpPr txBox="1"/>
          <p:nvPr/>
        </p:nvSpPr>
        <p:spPr>
          <a:xfrm>
            <a:off x="584200" y="889338"/>
            <a:ext cx="60960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Future Scope</a:t>
            </a:r>
          </a:p>
          <a:p>
            <a:pPr>
              <a:buNone/>
            </a:pPr>
            <a:endParaRPr lang="en-US" sz="3200" b="1" dirty="0"/>
          </a:p>
          <a:p>
            <a:r>
              <a:rPr lang="en-US" dirty="0"/>
              <a:t>✅ AI Task Recommendations </a:t>
            </a:r>
          </a:p>
          <a:p>
            <a:endParaRPr lang="en-US" dirty="0"/>
          </a:p>
          <a:p>
            <a:r>
              <a:rPr lang="en-US" dirty="0"/>
              <a:t>✅ Team Analytics </a:t>
            </a:r>
          </a:p>
          <a:p>
            <a:endParaRPr lang="en-US" dirty="0"/>
          </a:p>
          <a:p>
            <a:r>
              <a:rPr lang="en-US" dirty="0"/>
              <a:t>✅ Calendar Integration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✅ Mobile App </a:t>
            </a:r>
          </a:p>
          <a:p>
            <a:endParaRPr lang="en-US" dirty="0"/>
          </a:p>
          <a:p>
            <a:r>
              <a:rPr lang="en-US" dirty="0"/>
              <a:t>✅ Smart Notifications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79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3772-607A-C17D-048E-775593D0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7A53AA-358D-491D-E643-A11FD8F77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84026B-3E1F-2A1B-C3C7-E733B28E85F4}"/>
              </a:ext>
            </a:extLst>
          </p:cNvPr>
          <p:cNvSpPr txBox="1"/>
          <p:nvPr/>
        </p:nvSpPr>
        <p:spPr>
          <a:xfrm>
            <a:off x="863354" y="1154071"/>
            <a:ext cx="61655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04 </a:t>
            </a:r>
            <a:br>
              <a:rPr lang="en-US" sz="5400" b="1" dirty="0">
                <a:solidFill>
                  <a:schemeClr val="bg1"/>
                </a:solidFill>
                <a:latin typeface="+mj-lt"/>
              </a:rPr>
            </a:br>
            <a:r>
              <a:rPr lang="en-US" sz="5400" b="1" dirty="0">
                <a:solidFill>
                  <a:schemeClr val="bg1"/>
                </a:solidFill>
                <a:latin typeface="+mj-lt"/>
              </a:rPr>
              <a:t>Conclusion</a:t>
            </a:r>
          </a:p>
          <a:p>
            <a:r>
              <a:rPr lang="en-US" sz="5400" b="1" dirty="0">
                <a:solidFill>
                  <a:schemeClr val="bg1"/>
                </a:solidFill>
                <a:latin typeface="+mj-lt"/>
              </a:rPr>
              <a:t>&amp; Outcomes</a:t>
            </a:r>
          </a:p>
        </p:txBody>
      </p:sp>
    </p:spTree>
    <p:extLst>
      <p:ext uri="{BB962C8B-B14F-4D97-AF65-F5344CB8AC3E}">
        <p14:creationId xmlns:p14="http://schemas.microsoft.com/office/powerpoint/2010/main" val="2886526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96EE3-AB96-ED00-59E7-CAF551BF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1F6B9-7A26-CD48-D8FD-32CE91605EAD}"/>
              </a:ext>
            </a:extLst>
          </p:cNvPr>
          <p:cNvSpPr txBox="1"/>
          <p:nvPr/>
        </p:nvSpPr>
        <p:spPr>
          <a:xfrm>
            <a:off x="862613" y="443883"/>
            <a:ext cx="102537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Project Summary &amp;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3B08E-C934-0494-E638-EE60833ED6F8}"/>
              </a:ext>
            </a:extLst>
          </p:cNvPr>
          <p:cNvSpPr txBox="1"/>
          <p:nvPr/>
        </p:nvSpPr>
        <p:spPr>
          <a:xfrm>
            <a:off x="495209" y="3429000"/>
            <a:ext cx="255676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Deliverable Achievement</a:t>
            </a:r>
          </a:p>
          <a:p>
            <a:endParaRPr lang="en-US" dirty="0">
              <a:latin typeface="+mj-lt"/>
            </a:endParaRPr>
          </a:p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SyncBoard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improves collaboration by combining real-time communication, transparent activity tracking, and structured workflow management into a single platform.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A0737-A42A-240B-EB76-D7D22416726C}"/>
              </a:ext>
            </a:extLst>
          </p:cNvPr>
          <p:cNvSpPr txBox="1"/>
          <p:nvPr/>
        </p:nvSpPr>
        <p:spPr>
          <a:xfrm>
            <a:off x="4724030" y="1407176"/>
            <a:ext cx="304874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Productivity Gain</a:t>
            </a:r>
          </a:p>
          <a:p>
            <a:endParaRPr lang="en-US" dirty="0">
              <a:latin typeface="+mj-lt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task organization , improved progress visibility and significantly strengthened team coordination and operational efficiency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3F194C-A5D2-A14D-0AC4-4C5DDC391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81" y="3727275"/>
            <a:ext cx="1992171" cy="160732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B5DCD685-3598-5768-6D2D-2F64F21B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A97732-BCBE-41E0-A655-9E8D17EE8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25" y="4604229"/>
            <a:ext cx="1599483" cy="2021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01C02F-0EF8-F6C9-E0BC-E7FCC4501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66" y="3727275"/>
            <a:ext cx="1990373" cy="1607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175D85-4002-BDDF-83B7-303564294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689" y="4687225"/>
            <a:ext cx="1541154" cy="194634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0F5E05D8-4C80-ECEE-7BFF-1A69777D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17224-F219-1548-8036-2DE6C534B4AF}"/>
              </a:ext>
            </a:extLst>
          </p:cNvPr>
          <p:cNvSpPr txBox="1"/>
          <p:nvPr/>
        </p:nvSpPr>
        <p:spPr>
          <a:xfrm>
            <a:off x="9011551" y="3429000"/>
            <a:ext cx="30487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Technical Scalability</a:t>
            </a:r>
          </a:p>
          <a:p>
            <a:endParaRPr lang="en-US" dirty="0"/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Architected with scalable technology specifically design for relatable enterprise level deployment and future growth.</a:t>
            </a:r>
          </a:p>
        </p:txBody>
      </p:sp>
    </p:spTree>
    <p:extLst>
      <p:ext uri="{BB962C8B-B14F-4D97-AF65-F5344CB8AC3E}">
        <p14:creationId xmlns:p14="http://schemas.microsoft.com/office/powerpoint/2010/main" val="2389612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DAC7A4-6D81-CE35-C940-FF87E1CBF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22" y="934085"/>
            <a:ext cx="5233274" cy="49898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C08EC-F75A-9CD5-5D57-5A420BF4DC74}"/>
              </a:ext>
            </a:extLst>
          </p:cNvPr>
          <p:cNvSpPr txBox="1"/>
          <p:nvPr/>
        </p:nvSpPr>
        <p:spPr>
          <a:xfrm>
            <a:off x="7408528" y="2644169"/>
            <a:ext cx="5743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+mj-lt"/>
              </a:rPr>
              <a:t>Thanks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04E5D-9133-A11E-F02A-6D7631D8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6" y="815681"/>
            <a:ext cx="5405722" cy="522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28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819</Words>
  <Application>Microsoft Office PowerPoint</Application>
  <PresentationFormat>Widescreen</PresentationFormat>
  <Paragraphs>187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SyncBoard -Real-Time Collaborative Workspace  for Teams</vt:lpstr>
      <vt:lpstr>PowerPoint Presentation</vt:lpstr>
      <vt:lpstr>Problem Statement  Title: Problem Statement  Content: ✅ Teams struggle to track tasks across multiple communication channels.   ✅ Lack of visibility causes missed deadlines and reduced accountability.   ✅ Existing solutions can be complex for small teams and student projects.   ✅ Real-time collaboration and transparent activity tracking are often limited.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bisht</dc:creator>
  <cp:lastModifiedBy>harshita bisht</cp:lastModifiedBy>
  <cp:revision>4</cp:revision>
  <dcterms:created xsi:type="dcterms:W3CDTF">2026-03-23T12:39:25Z</dcterms:created>
  <dcterms:modified xsi:type="dcterms:W3CDTF">2026-06-18T07:26:35Z</dcterms:modified>
</cp:coreProperties>
</file>